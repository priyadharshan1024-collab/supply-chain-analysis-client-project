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2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Supply Chain Analysis</a:t>
            </a:r>
          </a:p>
          <a:p>
            <a:pPr algn="ctr">
              <a:defRPr sz="2000"/>
            </a:pPr>
            <a:r>
              <a:t>Excel • Power Query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Analyze sales, inventory, manufacturing, supplier, lead-time and logistics data.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Identify useful patterns and possible bottlenecks from the available records.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Build a Power BI dashboard to monitor the main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The raw dataset contains product, sales, inventory, supplier, manufacturing, shipping and route information.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Key fields used include Product Type, SKU, Price, Products Sold, Revenue Generated, Stock Level, Lead Time, Supplier, Defect Rate, Shipping Cost and Transportation Mode.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Analysis was focused on fields that could be interpreted from the supplied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E21F2-6E72-F294-1EA6-A4AB84C64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" y="1020983"/>
            <a:ext cx="11640620" cy="4816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CC01B3-47EC-11A0-4023-FBA858E52DEA}"/>
              </a:ext>
            </a:extLst>
          </p:cNvPr>
          <p:cNvSpPr txBox="1"/>
          <p:nvPr/>
        </p:nvSpPr>
        <p:spPr>
          <a:xfrm>
            <a:off x="5013789" y="524251"/>
            <a:ext cx="286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 accessed from 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19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Cleaning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Used Excel and Power Query to inspect and prepare the raw data.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Checked the fields used for analysis and investigated unexpected values.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Revenue Generated did not consistently match Price × Products Sold, so the original field was retained and the issue was documented.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Unknown customer demographic values were retained as Unknown.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E6F07-0F2B-878F-6948-A4599BF1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5" y="840762"/>
            <a:ext cx="11239929" cy="5731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73AE08-5B32-098E-16A3-75F6A9086F74}"/>
              </a:ext>
            </a:extLst>
          </p:cNvPr>
          <p:cNvSpPr txBox="1"/>
          <p:nvPr/>
        </p:nvSpPr>
        <p:spPr>
          <a:xfrm>
            <a:off x="4232953" y="390418"/>
            <a:ext cx="57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in Power </a:t>
            </a:r>
            <a:r>
              <a:rPr lang="en-US" dirty="0" err="1"/>
              <a:t>qwery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869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59203"/>
            <a:ext cx="10607040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Total Revenue: approximately </a:t>
            </a:r>
            <a:r>
              <a:rPr sz="2400" dirty="0">
                <a:solidFill>
                  <a:srgbClr val="FF0000"/>
                </a:solidFill>
              </a:rPr>
              <a:t>2.29M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Total Products Sold: </a:t>
            </a:r>
            <a:r>
              <a:rPr sz="2400" dirty="0">
                <a:solidFill>
                  <a:srgbClr val="FF0000"/>
                </a:solidFill>
              </a:rPr>
              <a:t>46,099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Recorded Stock Level: </a:t>
            </a:r>
            <a:r>
              <a:rPr sz="2400" dirty="0">
                <a:solidFill>
                  <a:srgbClr val="FF0000"/>
                </a:solidFill>
              </a:rPr>
              <a:t>4,777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Average Lead Time: </a:t>
            </a:r>
            <a:r>
              <a:rPr sz="2400" dirty="0">
                <a:solidFill>
                  <a:srgbClr val="FF0000"/>
                </a:solidFill>
              </a:rPr>
              <a:t>17.08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DD9BD-78B4-C408-3AE8-79FF59C70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643" y="493160"/>
            <a:ext cx="6717415" cy="6243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&amp; 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Skincare generated the highest revenue at approximately </a:t>
            </a:r>
            <a:r>
              <a:rPr sz="2400" dirty="0">
                <a:solidFill>
                  <a:srgbClr val="FF0000"/>
                </a:solidFill>
              </a:rPr>
              <a:t>1.05M</a:t>
            </a:r>
            <a:r>
              <a:rPr sz="2400" dirty="0"/>
              <a:t>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Skincare also recorded the highest products sold at approximately </a:t>
            </a:r>
            <a:r>
              <a:rPr sz="2400" dirty="0">
                <a:solidFill>
                  <a:srgbClr val="FF0000"/>
                </a:solidFill>
              </a:rPr>
              <a:t>20,731</a:t>
            </a:r>
            <a:r>
              <a:rPr sz="2400" dirty="0"/>
              <a:t>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Haircare generated approximately </a:t>
            </a:r>
            <a:r>
              <a:rPr sz="2400" dirty="0">
                <a:solidFill>
                  <a:srgbClr val="FF0000"/>
                </a:solidFill>
              </a:rPr>
              <a:t>633K</a:t>
            </a:r>
            <a:r>
              <a:rPr sz="2400" dirty="0"/>
              <a:t> and Cosmetics approximately </a:t>
            </a:r>
            <a:r>
              <a:rPr sz="2400" dirty="0">
                <a:solidFill>
                  <a:srgbClr val="FF0000"/>
                </a:solidFill>
              </a:rPr>
              <a:t>601K</a:t>
            </a:r>
            <a:r>
              <a:rPr sz="2400" dirty="0"/>
              <a:t>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>
                <a:solidFill>
                  <a:srgbClr val="FF0000"/>
                </a:solidFill>
              </a:rPr>
              <a:t>Skincare</a:t>
            </a:r>
            <a:r>
              <a:rPr sz="2400" dirty="0"/>
              <a:t> is therefore the largest contributor to the current sales measures.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Products &amp; Location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Top revenue SKUs identified were SKU </a:t>
            </a:r>
            <a:r>
              <a:rPr lang="en-US" sz="2400" dirty="0"/>
              <a:t>47</a:t>
            </a:r>
            <a:r>
              <a:rPr sz="2400" dirty="0"/>
              <a:t>, SKU </a:t>
            </a:r>
            <a:r>
              <a:rPr lang="en-US" sz="2400" dirty="0"/>
              <a:t>11</a:t>
            </a:r>
            <a:r>
              <a:rPr sz="2400" dirty="0"/>
              <a:t>, SKU </a:t>
            </a:r>
            <a:r>
              <a:rPr lang="en-US" sz="2400" dirty="0"/>
              <a:t>52</a:t>
            </a:r>
            <a:r>
              <a:rPr sz="2400" dirty="0"/>
              <a:t>, SKU </a:t>
            </a:r>
            <a:r>
              <a:rPr lang="en-US" sz="2400" dirty="0"/>
              <a:t>8</a:t>
            </a:r>
            <a:r>
              <a:rPr sz="2400" dirty="0"/>
              <a:t>0 and SKU </a:t>
            </a:r>
            <a:r>
              <a:rPr lang="en-US" sz="2400" dirty="0"/>
              <a:t>40</a:t>
            </a:r>
            <a:r>
              <a:rPr sz="2400" dirty="0"/>
              <a:t>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SKU </a:t>
            </a:r>
            <a:r>
              <a:rPr lang="en-US" sz="2400" dirty="0"/>
              <a:t>47</a:t>
            </a:r>
            <a:r>
              <a:rPr sz="2400" dirty="0"/>
              <a:t> was the highest in the current visual at approximately </a:t>
            </a:r>
            <a:r>
              <a:rPr sz="2400" dirty="0">
                <a:solidFill>
                  <a:srgbClr val="FF0000"/>
                </a:solidFill>
              </a:rPr>
              <a:t>87</a:t>
            </a:r>
            <a:r>
              <a:rPr lang="en-US" sz="2400" dirty="0">
                <a:solidFill>
                  <a:srgbClr val="FF0000"/>
                </a:solidFill>
              </a:rPr>
              <a:t>.1</a:t>
            </a:r>
            <a:r>
              <a:rPr sz="2400" dirty="0">
                <a:solidFill>
                  <a:srgbClr val="FF0000"/>
                </a:solidFill>
              </a:rPr>
              <a:t>K.</a:t>
            </a:r>
            <a:r>
              <a:rPr sz="2400" dirty="0"/>
              <a:t>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Revenue was also compared across locations.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Inventory &amp;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Recorded stock: Skincare 1,608; Haircare 1,644; Cosmetics 1,525.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Manufacturing cost: Skincare </a:t>
            </a:r>
            <a:r>
              <a:rPr lang="en-US" sz="2400" dirty="0"/>
              <a:t>$</a:t>
            </a:r>
            <a:r>
              <a:rPr sz="2400" dirty="0"/>
              <a:t>1,960; Haircare </a:t>
            </a:r>
            <a:r>
              <a:rPr lang="en-US" sz="2400" dirty="0"/>
              <a:t>$</a:t>
            </a:r>
            <a:r>
              <a:rPr sz="2400" dirty="0"/>
              <a:t>1,648; Cosmetics </a:t>
            </a:r>
            <a:r>
              <a:rPr lang="en-US" sz="2400" dirty="0"/>
              <a:t>$</a:t>
            </a:r>
            <a:r>
              <a:rPr sz="2400" dirty="0"/>
              <a:t>1,119.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Stock and sales should be interpreted together rather than assuming a difference is automatically an error.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Supplier &amp; Lead-Time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Supplier 5 had the highest recorded defect rate at approximately 2.7.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Supplier 1 had the lowest among the listed suppliers at approximately 1.8.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Haircare had the highest average lead time at approximately 19.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Skincare averaged about 18 and Cosmetics about 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Logistics / Shipping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Carrier B had the highest shipping cost in the current analysis at approximately </a:t>
            </a:r>
            <a:r>
              <a:rPr lang="en-US" sz="2400" dirty="0"/>
              <a:t>$</a:t>
            </a:r>
            <a:r>
              <a:rPr sz="2400" dirty="0"/>
              <a:t>236.90.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Carrier C was approximately </a:t>
            </a:r>
            <a:r>
              <a:rPr lang="en-US" sz="2400" dirty="0"/>
              <a:t>$</a:t>
            </a:r>
            <a:r>
              <a:rPr sz="2400" dirty="0"/>
              <a:t>162.38 and Carrier A approximately </a:t>
            </a:r>
            <a:r>
              <a:rPr lang="en-US" sz="2400" dirty="0"/>
              <a:t>$</a:t>
            </a:r>
            <a:r>
              <a:rPr sz="2400" dirty="0"/>
              <a:t>155.54.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Transportation mode costs: Road </a:t>
            </a:r>
            <a:r>
              <a:rPr lang="en-US" sz="2400" dirty="0"/>
              <a:t>$</a:t>
            </a:r>
            <a:r>
              <a:rPr sz="2400" dirty="0"/>
              <a:t>160.72, Air </a:t>
            </a:r>
            <a:r>
              <a:rPr lang="en-US" sz="2400" dirty="0"/>
              <a:t>$</a:t>
            </a:r>
            <a:r>
              <a:rPr sz="2400" dirty="0"/>
              <a:t>156.46, Rail </a:t>
            </a:r>
            <a:r>
              <a:rPr lang="en-US" sz="2400" dirty="0"/>
              <a:t>$</a:t>
            </a:r>
            <a:r>
              <a:rPr sz="2400" dirty="0"/>
              <a:t>153.13 and </a:t>
            </a:r>
            <a:r>
              <a:rPr lang="en-US" sz="2400" dirty="0"/>
              <a:t>$</a:t>
            </a:r>
            <a:r>
              <a:rPr sz="2400" dirty="0"/>
              <a:t>Sea 84.49.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Carrier cost should be compared with delivery performance before changing carrier allocation.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Dashboard includes KPI cards, product and sales comparisons, SKU performance, location analysis, supplier quality, lead time and shipping views.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Filters allow the analysis to be explored interactively.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The KPI card interaction with the Top 5 SKU visual was set to None so selecting an SKU does not change the overall KPI.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EA4475-D638-D539-529D-227D55C2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251969"/>
            <a:ext cx="11317279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80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249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2400" dirty="0"/>
              <a:t>Review Supplier 5's quality results and investigate the cause of the higher defect rate.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Investigate the stages contributing to Haircare's longer lead time.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Compare Carrier B's cost with delivery performance before deciding whether to change carrier allocation.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Monitor stock and replenishment for high-demand products, especially Skincare.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Confirm the official definition and calculation of Revenue Generated before formal reporting.</a:t>
            </a:r>
          </a:p>
          <a:p>
            <a:pPr>
              <a:spcAft>
                <a:spcPts val="1300"/>
              </a:spcAft>
              <a:defRPr sz="2000"/>
            </a:pPr>
            <a:r>
              <a:rPr sz="2400" dirty="0"/>
              <a:t>Continue monitoring the main KPIs through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600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Priyadharshan R</cp:lastModifiedBy>
  <cp:revision>2</cp:revision>
  <dcterms:created xsi:type="dcterms:W3CDTF">2013-01-27T09:14:16Z</dcterms:created>
  <dcterms:modified xsi:type="dcterms:W3CDTF">2026-08-23T06:49:34Z</dcterms:modified>
  <cp:category/>
</cp:coreProperties>
</file>